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82" r:id="rId5"/>
    <p:sldId id="259" r:id="rId6"/>
    <p:sldId id="261" r:id="rId7"/>
    <p:sldId id="264" r:id="rId8"/>
    <p:sldId id="287" r:id="rId9"/>
    <p:sldId id="286" r:id="rId10"/>
    <p:sldId id="265" r:id="rId11"/>
    <p:sldId id="280" r:id="rId12"/>
    <p:sldId id="268" r:id="rId13"/>
    <p:sldId id="270" r:id="rId14"/>
  </p:sldIdLst>
  <p:sldSz cx="24384000" cy="13716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Gill Sans MT" panose="020B0502020104020203" pitchFamily="34" charset="0"/>
      <p:regular r:id="rId20"/>
      <p:bold r:id="rId21"/>
      <p:italic r:id="rId22"/>
      <p:boldItalic r:id="rId23"/>
    </p:embeddedFont>
    <p:embeddedFont>
      <p:font typeface="Helvetica Neue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76" y="12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83709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c379c7b1_0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6bc379c7b1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bc379c7b1_0_5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bc379c7b1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bc379c7b1_0_60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6bc379c7b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bc379c7b1_0_6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6bc379c7b1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bc379c7b1_0_6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6bc379c7b1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bc379c7b1_0_6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g36bc379c7b1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bc379c7b1_0_6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bc379c7b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 panose="020B0604020202020204"/>
              <a:buNone/>
              <a:defRPr sz="36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/>
          <a:srcRect t="388" r="85449" b="9056"/>
          <a:stretch>
            <a:fillRect/>
          </a:stretch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/>
          <a:srcRect l="50059" r="34355" b="9675"/>
          <a:stretch>
            <a:fillRect/>
          </a:stretch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 panose="020B0604020202020204"/>
              <a:buNone/>
              <a:defRPr sz="36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 b="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 panose="020B0604020202020204"/>
              <a:buNone/>
              <a:defRPr sz="36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/>
          <a:srcRect t="388" r="85220" b="388"/>
          <a:stretch>
            <a:fillRect/>
          </a:stretch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/>
          <a:srcRect l="50059" r="33607"/>
          <a:stretch>
            <a:fillRect/>
          </a:stretch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1206496" y="3833066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lvl="0" algn="ctr">
              <a:buClr>
                <a:schemeClr val="accent1"/>
              </a:buClr>
            </a:pPr>
            <a:r>
              <a:rPr lang="en-US" alt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Banking Analytics for Fraud Risk Detection and Customer Segmentation Using Transaction Pattern and Predictive Data Mining</a:t>
            </a:r>
            <a:br>
              <a:rPr lang="en-US" alt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 0</a:t>
            </a:r>
            <a:endParaRPr lang="en-US" altLang="en-GB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13988894" y="7920204"/>
            <a:ext cx="9648190" cy="451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dirty="0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Presented by :</a:t>
            </a:r>
            <a:endParaRPr lang="en-US" sz="3600" dirty="0">
              <a:solidFill>
                <a:schemeClr val="tx1"/>
              </a:solidFill>
              <a:effectLst/>
              <a:uFillTx/>
              <a:latin typeface="Century Gothic" panose="020B0502020202020204" pitchFamily="34" charset="0"/>
              <a:sym typeface="+mn-ea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dirty="0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A.N.L.NARASIMHA (192525267)</a:t>
            </a:r>
          </a:p>
          <a:p>
            <a:pPr marL="0" lvl="0" indent="0">
              <a:buSzPts val="4500"/>
            </a:pP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sz="3600" b="0" dirty="0" err="1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k.Pavan</a:t>
            </a: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0" dirty="0" err="1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kalyan</a:t>
            </a: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(192311281)</a:t>
            </a:r>
            <a:endParaRPr lang="en-US" sz="3600" b="0" dirty="0">
              <a:solidFill>
                <a:schemeClr val="tx1"/>
              </a:solidFill>
              <a:effectLst/>
              <a:uFillTx/>
              <a:latin typeface="Century Gothic" panose="020B0502020202020204" pitchFamily="34" charset="0"/>
              <a:cs typeface="Times New Roman" panose="02020603050405020304" pitchFamily="18" charset="0"/>
              <a:sym typeface="+mn-ea"/>
            </a:endParaRPr>
          </a:p>
          <a:p>
            <a:pPr marL="0" lvl="0" indent="0">
              <a:buSzPts val="4500"/>
            </a:pP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V.Balarama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Krishna(192324049)</a:t>
            </a:r>
            <a:endParaRPr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tabLst>
                <a:tab pos="0" algn="l"/>
              </a:tabLst>
            </a:pPr>
            <a:r>
              <a:rPr lang="en-US" sz="3600" b="0" dirty="0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Harish </a:t>
            </a:r>
            <a:r>
              <a:rPr lang="en-US" sz="3600" b="0" dirty="0" err="1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kumar.S</a:t>
            </a: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(192321166)</a:t>
            </a:r>
            <a:endParaRPr lang="en-US" sz="3600" b="0" dirty="0">
              <a:solidFill>
                <a:schemeClr val="tx1"/>
              </a:solidFill>
              <a:effectLst/>
              <a:uFillTx/>
              <a:latin typeface="Century Gothic" panose="020B050202020202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97938" y="12800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 panose="020B0604020202020204"/>
              <a:buNone/>
            </a:pP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SIMATS ENGINEERING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Saveetha Institute of Medical and Technical Sciences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Chennai-602105.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560519" y="8197249"/>
            <a:ext cx="10946130" cy="5073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Supervised by :</a:t>
            </a:r>
          </a:p>
          <a:p>
            <a:br>
              <a:rPr lang="en-US" altLang="en-GB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Dr. Renuga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1608083" y="2121633"/>
            <a:ext cx="18815953" cy="105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 panose="020B0604020202020204"/>
              </a:rPr>
              <a:t>ABSTRACT</a:t>
            </a: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2</a:t>
            </a:fld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102360" y="3252470"/>
            <a:ext cx="21305520" cy="8764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Digital banking generates large volumes of customer and transaction data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Fraudulent transactions cause financial loss and reduce customer trust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This project uses data mining to analyse transaction patterns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Predictive models are used to detect fraud risk in transactions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Customers are grouped into segments based on their behaviour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Supports smarter, safer and more personalised banking</a:t>
            </a:r>
            <a:endParaRPr kumimoji="0" lang="en-US" alt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c379c7b1_0_560"/>
          <p:cNvSpPr txBox="1">
            <a:spLocks noGrp="1"/>
          </p:cNvSpPr>
          <p:nvPr>
            <p:ph type="title"/>
          </p:nvPr>
        </p:nvSpPr>
        <p:spPr>
          <a:xfrm>
            <a:off x="2538248" y="1962150"/>
            <a:ext cx="18366827" cy="109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altLang="en-GB" sz="5400" b="1" i="0" u="none" strike="noStrike" cap="none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 panose="020B0604020202020204"/>
              </a:rPr>
              <a:t>INTRODUCTION</a:t>
            </a:r>
          </a:p>
        </p:txBody>
      </p:sp>
      <p:sp>
        <p:nvSpPr>
          <p:cNvPr id="101" name="Google Shape;101;g36bc379c7b1_0_560"/>
          <p:cNvSpPr txBox="1">
            <a:spLocks noGrp="1"/>
          </p:cNvSpPr>
          <p:nvPr>
            <p:ph type="body" idx="2"/>
          </p:nvPr>
        </p:nvSpPr>
        <p:spPr>
          <a:xfrm>
            <a:off x="1079500" y="3224530"/>
            <a:ext cx="20069175" cy="710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Banks process millions of digital transactions every day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Transaction data shows how customers normally behave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Data mining finds hidden patterns and unusual activity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Predictive techniques help identify risky transactions early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Customer segmentation helps banks serve each group better</a:t>
            </a:r>
          </a:p>
        </p:txBody>
      </p:sp>
      <p:sp>
        <p:nvSpPr>
          <p:cNvPr id="102" name="Google Shape;102;g36bc379c7b1_0_56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3</a:t>
            </a:fld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1876097" y="2279288"/>
            <a:ext cx="19533475" cy="105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 panose="020B0604020202020204"/>
              </a:rPr>
              <a:t>PROBLEM STATEMENT</a:t>
            </a: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4</a:t>
            </a:fld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462690" y="3625259"/>
            <a:ext cx="14823090" cy="736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Online and card fraud is increasing with digital banking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Rule-based checks miss new and changing fraud patterns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Customers differ widely, so one approach does not fit all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Raw transaction data is large and hard to analyse manually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Need for an analytics system for fraud detection and customer segmentation</a:t>
            </a:r>
            <a:endParaRPr kumimoji="0" lang="en-US" alt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bc379c7b1_0_572"/>
          <p:cNvSpPr txBox="1">
            <a:spLocks noGrp="1"/>
          </p:cNvSpPr>
          <p:nvPr>
            <p:ph type="title"/>
          </p:nvPr>
        </p:nvSpPr>
        <p:spPr>
          <a:xfrm>
            <a:off x="1321000" y="1631749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11500" b="1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sym typeface="Helvetica Neue" panose="020B0604020202020204"/>
              </a:rPr>
              <a:t>OBJECTIVES</a:t>
            </a:r>
          </a:p>
        </p:txBody>
      </p:sp>
      <p:sp>
        <p:nvSpPr>
          <p:cNvPr id="115" name="Google Shape;115;g36bc379c7b1_0_572"/>
          <p:cNvSpPr txBox="1">
            <a:spLocks noGrp="1"/>
          </p:cNvSpPr>
          <p:nvPr>
            <p:ph type="body" idx="2"/>
          </p:nvPr>
        </p:nvSpPr>
        <p:spPr>
          <a:xfrm>
            <a:off x="1485559" y="3743014"/>
            <a:ext cx="19438744" cy="954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Manage customer and transaction data effectively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Analyse transaction patterns to understand behaviour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Detect and predict fraud risk in transactions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Segment customers based on their transaction behaviour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Provide smart banking analytics for better decisions</a:t>
            </a:r>
            <a:endParaRPr kumimoji="0" lang="en-US" altLang="en-GB" sz="4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  <a:cs typeface="Times New Roman" pitchFamily="18" charset="0"/>
            </a:endParaRPr>
          </a:p>
        </p:txBody>
      </p:sp>
      <p:sp>
        <p:nvSpPr>
          <p:cNvPr id="116" name="Google Shape;116;g36bc379c7b1_0_57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5</a:t>
            </a:fld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/>
          <p:cNvSpPr txBox="1">
            <a:spLocks noGrp="1"/>
          </p:cNvSpPr>
          <p:nvPr>
            <p:ph type="title"/>
          </p:nvPr>
        </p:nvSpPr>
        <p:spPr>
          <a:xfrm>
            <a:off x="992000" y="3267579"/>
            <a:ext cx="22400000" cy="1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ctr">
              <a:buSzPts val="8500"/>
            </a:pPr>
            <a:r>
              <a:rPr lang="en-US" sz="5200" dirty="0">
                <a:latin typeface="Times New Roman" pitchFamily="18" charset="0"/>
                <a:cs typeface="Times New Roman" pitchFamily="18" charset="0"/>
              </a:rPr>
              <a:t>CUSTOMER &amp; TRANSACTION DATA MANAGEMENT</a:t>
            </a:r>
            <a:endParaRPr lang="en-US" altLang="en-GB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087912" y="4562610"/>
            <a:ext cx="1844729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Collection of customer and account details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Collection of transaction records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Integration of data from multiple sources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Data cleaning (missing values, duplicates)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Data preprocessing and feature preparation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Secure storage in a structured database</a:t>
            </a:r>
            <a:endParaRPr kumimoji="0" lang="en-US" alt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49836" y="1111039"/>
            <a:ext cx="548918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Helvetica Neue" panose="020B0604020202020204"/>
              </a:rPr>
              <a:t>Module 1</a:t>
            </a:r>
            <a:endParaRPr lang="en-IN" sz="8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c379c7b1_0_602"/>
          <p:cNvSpPr txBox="1">
            <a:spLocks noGrp="1"/>
          </p:cNvSpPr>
          <p:nvPr>
            <p:ph type="title"/>
          </p:nvPr>
        </p:nvSpPr>
        <p:spPr>
          <a:xfrm>
            <a:off x="2491762" y="2202705"/>
            <a:ext cx="16837025" cy="133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ctr">
              <a:buSzPts val="8500"/>
            </a:pPr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TRANSACTION PATTERN ANALYSIS</a:t>
            </a:r>
            <a:endParaRPr lang="en-US" altLang="en-GB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g36bc379c7b1_0_60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00250" y="3343495"/>
            <a:ext cx="20604162" cy="602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4400" dirty="0">
                <a:latin typeface="Gill Sans MT" pitchFamily="34" charset="0"/>
              </a:rPr>
              <a:t>Studies amount, frequency, time and channel of transactions</a:t>
            </a:r>
          </a:p>
          <a:p>
            <a:r>
              <a:rPr lang="en-US" sz="4400" dirty="0">
                <a:latin typeface="Gill Sans MT" pitchFamily="34" charset="0"/>
              </a:rPr>
              <a:t>Identifies the normal spending behaviour of customers</a:t>
            </a:r>
          </a:p>
          <a:p>
            <a:r>
              <a:rPr lang="en-US" sz="4400" dirty="0">
                <a:latin typeface="Gill Sans MT" pitchFamily="34" charset="0"/>
              </a:rPr>
              <a:t>Finds trends and peak transaction periods</a:t>
            </a:r>
          </a:p>
          <a:p>
            <a:r>
              <a:rPr lang="en-US" sz="4400" dirty="0">
                <a:latin typeface="Gill Sans MT" pitchFamily="34" charset="0"/>
              </a:rPr>
              <a:t>Mines frequent patterns using data mining</a:t>
            </a:r>
          </a:p>
          <a:p>
            <a:r>
              <a:rPr lang="en-US" sz="4400" dirty="0">
                <a:latin typeface="Gill Sans MT" pitchFamily="34" charset="0"/>
              </a:rPr>
              <a:t>Highlights unusual transactions as anomalies</a:t>
            </a:r>
          </a:p>
        </p:txBody>
      </p:sp>
      <p:sp>
        <p:nvSpPr>
          <p:cNvPr id="6" name="Google Shape;149;g36bc379c7b1_0_602"/>
          <p:cNvSpPr txBox="1"/>
          <p:nvPr/>
        </p:nvSpPr>
        <p:spPr>
          <a:xfrm>
            <a:off x="8333313" y="432388"/>
            <a:ext cx="5761829" cy="157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>
              <a:buSzPts val="8500"/>
            </a:pPr>
            <a:r>
              <a:rPr lang="en-US" sz="8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c379c7b1_0_602"/>
          <p:cNvSpPr txBox="1">
            <a:spLocks noGrp="1"/>
          </p:cNvSpPr>
          <p:nvPr>
            <p:ph type="title"/>
          </p:nvPr>
        </p:nvSpPr>
        <p:spPr>
          <a:xfrm>
            <a:off x="2491762" y="2202705"/>
            <a:ext cx="16837025" cy="133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ctr">
              <a:buSzPts val="8500"/>
            </a:pPr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FRAUD RISK DETECTION &amp; PREDICTION</a:t>
            </a:r>
            <a:endParaRPr lang="en-US" altLang="en-GB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g36bc379c7b1_0_60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00250" y="3343495"/>
            <a:ext cx="20604162" cy="602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4400" dirty="0">
                <a:latin typeface="Gill Sans MT" pitchFamily="34" charset="0"/>
              </a:rPr>
              <a:t>Classifies transactions as legitimate or suspicious</a:t>
            </a:r>
          </a:p>
          <a:p>
            <a:r>
              <a:rPr lang="en-US" sz="4400" dirty="0">
                <a:latin typeface="Gill Sans MT" pitchFamily="34" charset="0"/>
              </a:rPr>
              <a:t>Uses predictive models (e.g. Decision Tree, Random Forest)</a:t>
            </a:r>
          </a:p>
          <a:p>
            <a:r>
              <a:rPr lang="en-US" sz="4400" dirty="0">
                <a:latin typeface="Gill Sans MT" pitchFamily="34" charset="0"/>
              </a:rPr>
              <a:t>Assigns a fraud risk score to each transaction</a:t>
            </a:r>
          </a:p>
          <a:p>
            <a:r>
              <a:rPr lang="en-US" sz="4400" dirty="0">
                <a:latin typeface="Gill Sans MT" pitchFamily="34" charset="0"/>
              </a:rPr>
              <a:t>Evaluates models using accuracy, precision and recall</a:t>
            </a:r>
          </a:p>
          <a:p>
            <a:r>
              <a:rPr lang="en-US" sz="4400" dirty="0">
                <a:latin typeface="Gill Sans MT" pitchFamily="34" charset="0"/>
              </a:rPr>
              <a:t>Generates alerts for high-risk transactions</a:t>
            </a:r>
          </a:p>
        </p:txBody>
      </p:sp>
      <p:sp>
        <p:nvSpPr>
          <p:cNvPr id="6" name="Google Shape;149;g36bc379c7b1_0_602"/>
          <p:cNvSpPr txBox="1"/>
          <p:nvPr/>
        </p:nvSpPr>
        <p:spPr>
          <a:xfrm>
            <a:off x="8333313" y="432388"/>
            <a:ext cx="5761829" cy="157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>
              <a:buSzPts val="8500"/>
            </a:pPr>
            <a:r>
              <a:rPr lang="en-US" sz="8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c379c7b1_0_602"/>
          <p:cNvSpPr txBox="1">
            <a:spLocks noGrp="1"/>
          </p:cNvSpPr>
          <p:nvPr>
            <p:ph type="title"/>
          </p:nvPr>
        </p:nvSpPr>
        <p:spPr>
          <a:xfrm>
            <a:off x="992000" y="2202705"/>
            <a:ext cx="22400000" cy="133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ctr">
              <a:buSzPts val="8500"/>
            </a:pPr>
            <a:r>
              <a:rPr lang="en-US" sz="4600" dirty="0">
                <a:latin typeface="Times New Roman" pitchFamily="18" charset="0"/>
                <a:cs typeface="Times New Roman" pitchFamily="18" charset="0"/>
              </a:rPr>
              <a:t>CUSTOMER SEGMENTATION &amp; SMART BANKING ANALYTICS</a:t>
            </a:r>
            <a:endParaRPr lang="en-US" altLang="en-GB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g36bc379c7b1_0_60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00250" y="3343495"/>
            <a:ext cx="20604162" cy="602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4400" dirty="0">
                <a:latin typeface="Gill Sans MT" pitchFamily="34" charset="0"/>
              </a:rPr>
              <a:t>Groups customers using clustering (e.g. K-Means)</a:t>
            </a:r>
          </a:p>
          <a:p>
            <a:r>
              <a:rPr lang="en-US" sz="4400" dirty="0">
                <a:latin typeface="Gill Sans MT" pitchFamily="34" charset="0"/>
              </a:rPr>
              <a:t>Identifies segments such as high-value and high-risk customers</a:t>
            </a:r>
          </a:p>
          <a:p>
            <a:r>
              <a:rPr lang="en-US" sz="4400" dirty="0">
                <a:latin typeface="Gill Sans MT" pitchFamily="34" charset="0"/>
              </a:rPr>
              <a:t>Shows insights through dashboards and reports</a:t>
            </a:r>
          </a:p>
          <a:p>
            <a:r>
              <a:rPr lang="en-US" sz="4400" dirty="0">
                <a:latin typeface="Gill Sans MT" pitchFamily="34" charset="0"/>
              </a:rPr>
              <a:t>Supports personalised offers and services</a:t>
            </a:r>
          </a:p>
          <a:p>
            <a:r>
              <a:rPr lang="en-US" sz="4400" dirty="0">
                <a:latin typeface="Gill Sans MT" pitchFamily="34" charset="0"/>
              </a:rPr>
              <a:t>Helps banks in monitoring and decision making</a:t>
            </a:r>
          </a:p>
        </p:txBody>
      </p:sp>
      <p:sp>
        <p:nvSpPr>
          <p:cNvPr id="6" name="Google Shape;149;g36bc379c7b1_0_602"/>
          <p:cNvSpPr txBox="1"/>
          <p:nvPr/>
        </p:nvSpPr>
        <p:spPr>
          <a:xfrm>
            <a:off x="8333313" y="432388"/>
            <a:ext cx="5761829" cy="157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>
              <a:buSzPts val="8500"/>
            </a:pPr>
            <a:r>
              <a:rPr lang="en-US" sz="8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bc379c7b1_0_608"/>
          <p:cNvSpPr txBox="1">
            <a:spLocks noGrp="1"/>
          </p:cNvSpPr>
          <p:nvPr>
            <p:ph type="title"/>
          </p:nvPr>
        </p:nvSpPr>
        <p:spPr>
          <a:xfrm>
            <a:off x="1339215" y="199771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altLang="en-GB" sz="6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  <a:sym typeface="+mn-ea"/>
              </a:rPr>
              <a:t>Workflow Steps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6bc379c7b1_0_6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339215" y="3587750"/>
            <a:ext cx="25409525" cy="84626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Customer and transaction data is collected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Data is cleaned and preprocessed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Transaction patterns are analysed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Fraud prediction model is trained and tested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Fraud risk score is generated for transactions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Customers are segmented into groups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Results are shown as reports and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bc379c7b1_0_608"/>
          <p:cNvSpPr txBox="1">
            <a:spLocks noGrp="1"/>
          </p:cNvSpPr>
          <p:nvPr>
            <p:ph type="title"/>
          </p:nvPr>
        </p:nvSpPr>
        <p:spPr>
          <a:xfrm>
            <a:off x="1206500" y="243459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altLang="en-GB" sz="600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sym typeface="+mn-ea"/>
              </a:rPr>
              <a:t>Database &amp; Technologies Used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6bc379c7b1_0_6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010920" y="2364828"/>
            <a:ext cx="20865465" cy="89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sz="4400" b="1" dirty="0"/>
              <a:t>Technologies Used</a:t>
            </a:r>
          </a:p>
          <a:p>
            <a:r>
              <a:rPr lang="en-US" sz="4400" dirty="0"/>
              <a:t>Programming Language: Python</a:t>
            </a:r>
          </a:p>
          <a:p>
            <a:r>
              <a:rPr lang="en-US" sz="4400" dirty="0"/>
              <a:t>Libraries: Pandas, NumPy, Scikit-learn</a:t>
            </a:r>
          </a:p>
          <a:p>
            <a:r>
              <a:rPr lang="en-US" sz="4400" dirty="0"/>
              <a:t>Database: MySQL / transaction dataset (CSV)</a:t>
            </a:r>
          </a:p>
          <a:p>
            <a:r>
              <a:rPr lang="en-US" sz="4400" dirty="0"/>
              <a:t>Visualization: Matplotlib / dashboards</a:t>
            </a:r>
          </a:p>
          <a:p>
            <a:r>
              <a:rPr lang="en-US" sz="4400" dirty="0"/>
              <a:t>Platform: Windows / Linux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bc379c7b1_0_626"/>
          <p:cNvSpPr txBox="1">
            <a:spLocks noGrp="1"/>
          </p:cNvSpPr>
          <p:nvPr>
            <p:ph type="title"/>
          </p:nvPr>
        </p:nvSpPr>
        <p:spPr>
          <a:xfrm>
            <a:off x="1206500" y="2191385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6600" b="1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Helvetica Neue" panose="020B0604020202020204"/>
              </a:rPr>
              <a:t>Conclusion &amp; Future Work</a:t>
            </a:r>
          </a:p>
        </p:txBody>
      </p:sp>
      <p:sp>
        <p:nvSpPr>
          <p:cNvPr id="178" name="Google Shape;178;g36bc379c7b1_0_626"/>
          <p:cNvSpPr txBox="1">
            <a:spLocks noGrp="1"/>
          </p:cNvSpPr>
          <p:nvPr>
            <p:ph type="body" idx="2"/>
          </p:nvPr>
        </p:nvSpPr>
        <p:spPr>
          <a:xfrm>
            <a:off x="1200149" y="382178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Data mining helps detect fraud in banking transactions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Transaction pattern analysis reveals customer behaviour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Segmentation enables personalised banking services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The system supports smarter and safer decisions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Future work: real-time fraud detection and deep learning models</a:t>
            </a:r>
          </a:p>
        </p:txBody>
      </p:sp>
      <p:sp>
        <p:nvSpPr>
          <p:cNvPr id="179" name="Google Shape;179;g36bc379c7b1_0_62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bc379c7b1_0_639"/>
          <p:cNvSpPr txBox="1">
            <a:spLocks noGrp="1"/>
          </p:cNvSpPr>
          <p:nvPr>
            <p:ph type="body" idx="2"/>
          </p:nvPr>
        </p:nvSpPr>
        <p:spPr>
          <a:xfrm>
            <a:off x="7395845" y="6003290"/>
            <a:ext cx="8691245" cy="170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None/>
            </a:pPr>
            <a:r>
              <a:rPr lang="fr-FR" sz="9600" b="1" dirty="0">
                <a:solidFill>
                  <a:schemeClr val="dk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Thank You</a:t>
            </a:r>
            <a:r>
              <a:rPr lang="fr-FR" sz="9600" b="1" dirty="0">
                <a:solidFill>
                  <a:schemeClr val="dk1"/>
                </a:solidFill>
                <a:latin typeface="Century Gothic" panose="020B0502020202020204" pitchFamily="34" charset="0"/>
                <a:sym typeface="+mn-ea"/>
              </a:rPr>
              <a:t>..</a:t>
            </a:r>
            <a:r>
              <a:rPr lang="fr-FR" sz="9600" b="1" dirty="0">
                <a:solidFill>
                  <a:schemeClr val="dk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!!</a:t>
            </a:r>
            <a:endParaRPr lang="fr-FR" sz="9600" b="1" u="none" strike="noStrike" dirty="0">
              <a:solidFill>
                <a:schemeClr val="dk1"/>
              </a:solidFill>
              <a:effectLst/>
              <a:uFillTx/>
              <a:latin typeface="Century Gothic" panose="020B0502020202020204" pitchFamily="34" charset="0"/>
            </a:endParaRPr>
          </a:p>
        </p:txBody>
      </p:sp>
      <p:sp>
        <p:nvSpPr>
          <p:cNvPr id="192" name="Google Shape;192;g36bc379c7b1_0_6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566</Words>
  <Application>Microsoft Office PowerPoint</Application>
  <PresentationFormat>Custom</PresentationFormat>
  <Paragraphs>123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Gill Sans MT</vt:lpstr>
      <vt:lpstr>Helvetica Neue</vt:lpstr>
      <vt:lpstr>Arial</vt:lpstr>
      <vt:lpstr>Century Gothic</vt:lpstr>
      <vt:lpstr>Times New Roman</vt:lpstr>
      <vt:lpstr>21_BasicWhite</vt:lpstr>
      <vt:lpstr>Smart Banking Analytics for Fraud Risk Detection and Customer Segmentation Using Transaction Pattern and Predictive Data Mining Review 0</vt:lpstr>
      <vt:lpstr>ABSTRACT</vt:lpstr>
      <vt:lpstr>INTRODUCTION</vt:lpstr>
      <vt:lpstr>PROBLEM STATEMENT</vt:lpstr>
      <vt:lpstr>OBJECTIVES</vt:lpstr>
      <vt:lpstr>CUSTOMER &amp; TRANSACTION DATA MANAGEMENT</vt:lpstr>
      <vt:lpstr>TRANSACTION PATTERN ANALYSIS</vt:lpstr>
      <vt:lpstr>FRAUD RISK DETECTION &amp; PREDICTION</vt:lpstr>
      <vt:lpstr>CUSTOMER SEGMENTATION &amp; SMART BANKING ANALYTICS</vt:lpstr>
      <vt:lpstr>Workflow Steps</vt:lpstr>
      <vt:lpstr>Database &amp; Technologies Used</vt:lpstr>
      <vt:lpstr>Conclusion &amp;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&amp; Nutrition Management System  CSA4324 –Internet Programming for Web Development</dc:title>
  <dc:creator>MALLIKHARJUNA REDDY</dc:creator>
  <cp:lastModifiedBy>ACHUKOLU NARASIMHA</cp:lastModifiedBy>
  <cp:revision>11</cp:revision>
  <dcterms:created xsi:type="dcterms:W3CDTF">2025-12-26T06:35:00Z</dcterms:created>
  <dcterms:modified xsi:type="dcterms:W3CDTF">2026-10-21T07:52:39Z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68049D0AB0EA4B8B99E87944B7D1EED7_13</vt:lpwstr>
  </property>
  <property fmtid="{D5CDD505-2E9C-101B-9397-08002B2CF9AE}" pid="3" name="KSOProductBuildVer">
    <vt:lpwstr>2057-12.2.0.23196</vt:lpwstr>
  </property>
</Properties>
</file>